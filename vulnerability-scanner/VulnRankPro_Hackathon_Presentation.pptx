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669280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60720" y="0"/>
            <a:ext cx="6428232" cy="9144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60720" y="868680"/>
            <a:ext cx="6428232" cy="9144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60720" y="1737360"/>
            <a:ext cx="6428232" cy="9144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60720" y="2606039"/>
            <a:ext cx="6428232" cy="9144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720" y="3474720"/>
            <a:ext cx="6428232" cy="9144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0720" y="4343400"/>
            <a:ext cx="6428232" cy="9144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60720" y="5212079"/>
            <a:ext cx="6428232" cy="9144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60720" y="6080759"/>
            <a:ext cx="6428232" cy="9144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822960"/>
            <a:ext cx="914400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804672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E2E8F0"/>
                </a:solidFill>
                <a:latin typeface="Segoe UI"/>
              </a:rPr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18288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Segoe UI"/>
              </a:rPr>
              <a:t>VulnRankPro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633472"/>
            <a:ext cx="201168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2788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Segoe UI"/>
              </a:rPr>
              <a:t>Business-Risk Vulnerability Scanner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383280"/>
            <a:ext cx="48463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3520440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AI-Enriched • CISA KEV Live API • MITRE ATT&amp;CK v15
Capacity-Constrained Remediation • Executive PDF Export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09360"/>
            <a:ext cx="5669280" cy="54864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63825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Segoe UI"/>
              </a:rPr>
              <a:t>HTH-CS-03  |  Hackathon 2026  |  Cybersecurity Track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914400"/>
            <a:ext cx="5760720" cy="594360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0" y="102412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🇺🇸  CISA KEV Integration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1755648"/>
            <a:ext cx="5760720" cy="594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26480" y="186537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🎯  MITRE ATT&amp;CK Framework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2596896"/>
            <a:ext cx="576072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0" y="270662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📊  ROI Risk Simulator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3438144"/>
            <a:ext cx="5760720" cy="59436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26480" y="354787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5B4FC"/>
                </a:solidFill>
                <a:latin typeface="Segoe UI"/>
              </a:rPr>
              <a:t>🕸️  Attack Path Graph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4279392"/>
            <a:ext cx="576072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26480" y="43891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📄  Executive PDF (1-Click)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5120640"/>
            <a:ext cx="576072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26480" y="523036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0E1A"/>
                </a:solidFill>
                <a:latin typeface="Segoe UI"/>
              </a:rPr>
              <a:t>🔬  Verification Rescan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Why standard vulnerability scanners fall short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669280" cy="228600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669280" cy="73152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😤  Too Much Noise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Raw CVSS scores give every 'Critical' the same weight.
Security teams drown in 200-item lists with no idea what to fix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5669280" cy="228600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234440"/>
            <a:ext cx="5669280" cy="73152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⏰  No Capacity Awareness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28800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A team can fix 5 things per week — not 200.
No tool enforces this reality or plans around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03320"/>
            <a:ext cx="5669280" cy="228600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703320"/>
            <a:ext cx="5669280" cy="73152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🎭  No Business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97680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Technical scores ignore: Who owns this server?
Is it public-facing? Is it a crown-jewel database?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703320"/>
            <a:ext cx="5669280" cy="228600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3703320"/>
            <a:ext cx="5669280" cy="73152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840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🚨  Missing Live Threat Intel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297680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4A3B8"/>
                </a:solidFill>
                <a:latin typeface="Segoe UI"/>
              </a:rPr>
              <a:t>Static databases miss actively exploited CVEs.
CISA's KEV list of real-world attacks is rarely integrated.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62819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  <a:latin typeface="Segoe UI"/>
              </a:rPr>
              <a:t>⚡  VulnRankPro solves all four — with a live risk engine, government watchlist, threat intelligence, and enforced capacity 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Our Solution — VulnRankPro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A full-stack, 7-feature cybersecurity intelligence platform built in a single SPA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474720" cy="173736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384048" cy="1737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5" y="173736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280160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Business Risk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691640"/>
            <a:ext cx="2926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E × C × X scoring model ranks every vulnerability by real-world business impact, not just CVSS severity.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1648" y="1188720"/>
            <a:ext cx="3474720" cy="173736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041648" y="1188720"/>
            <a:ext cx="384048" cy="1737360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78224" y="173736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1280160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CISA KEV Override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1691640"/>
            <a:ext cx="2926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Live API fetches the U.S. government Known Exploited Vulnerabilities list. Matched CVEs are force-ranked to score 100.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63256" y="1188720"/>
            <a:ext cx="3474720" cy="173736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63256" y="1188720"/>
            <a:ext cx="384048" cy="1737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99831" y="1737360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280160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MITRE ATT&amp;CK Mapping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1691640"/>
            <a:ext cx="2926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Every CVE is enriched with tactic, technique, and kill-chain phase from the MITRE Enterprise Matrix v15.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090672"/>
            <a:ext cx="3474720" cy="173736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3090672"/>
            <a:ext cx="384048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6615" y="3639312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318211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Interactive ROI Simulator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3593591"/>
            <a:ext cx="2926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Drag-and-drop sprint planner with live Chart.js risk forecast. Enforces capacity constraints (N fixes/week).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41648" y="3090672"/>
            <a:ext cx="3474720" cy="173736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041648" y="3090672"/>
            <a:ext cx="384048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078224" y="3639312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7136" y="318211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Attack Path Visualization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136" y="3593591"/>
            <a:ext cx="2926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SVG topology graph showing pivot paths from external attacker to crown-jewel database. Sever paths interactively.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63256" y="3090672"/>
            <a:ext cx="3474720" cy="173736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763256" y="3090672"/>
            <a:ext cx="384048" cy="173736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99831" y="3639312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8744" y="318211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Executive Summary PDF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38744" y="3593591"/>
            <a:ext cx="2926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One-click jsPDF export translating raw CVE data into board-level business language with KPI metrics.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992624"/>
            <a:ext cx="3474720" cy="173736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0040" y="4992624"/>
            <a:ext cx="384048" cy="173736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6615" y="5541264"/>
            <a:ext cx="347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8" y="5084064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Verification Rescan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" y="5495544"/>
            <a:ext cx="2926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Targeted micro-scan API verifies completed fixes, updates the database, and logs permanent risk drops in trend history.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Pure frontend SPA — zero server required, fully portable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40312" cy="53949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1164031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25880"/>
            <a:ext cx="11064240" cy="10058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344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Segoe UI"/>
              </a:rPr>
              <a:t>External Intelligence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618488"/>
            <a:ext cx="5029200" cy="274320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6367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🇺🇸 CISA KEV API  (cisa.gov/known_exploited_vulnerabilities.json)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618488"/>
            <a:ext cx="539496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0" y="163677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🎯 MITRE ATT&amp;CK Enterprise Matrix v15  (MITRE_ATTACK_DB constant)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Segoe UI"/>
              </a:rPr>
              <a:t>↓  Data Enrichment Pipeline  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88920"/>
            <a:ext cx="11064240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28163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Segoe UI"/>
              </a:rPr>
              <a:t>Core Risk Engine  (app.js)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172968"/>
            <a:ext cx="265176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19125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buildFindings()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3172968"/>
            <a:ext cx="265176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9000" y="319125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calcBusinessRisk() E×C×X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172968"/>
            <a:ext cx="2651760" cy="274320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319125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applyKEVOverride() → Force 100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39" y="3172968"/>
            <a:ext cx="265176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06839" y="319125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enrichWithMitreAttack()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9776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4748B"/>
                </a:solidFill>
                <a:latin typeface="Segoe UI"/>
              </a:rPr>
              <a:t>↓  Rendered to 6 Interactive Modules  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407408"/>
            <a:ext cx="173736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4462272"/>
            <a:ext cx="16642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📊 Risk Report
app.js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32304" y="4407408"/>
            <a:ext cx="1737360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478024" y="4462272"/>
            <a:ext cx="16642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📋 Planner
app.js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15968" y="4407408"/>
            <a:ext cx="1737360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61688" y="4462272"/>
            <a:ext cx="16642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⚡ ROI Sim
roi.js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99631" y="4407408"/>
            <a:ext cx="173736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45351" y="4462272"/>
            <a:ext cx="16642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🕸️ Attack Path
attack-path.js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83296" y="4407408"/>
            <a:ext cx="1737360" cy="91440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29016" y="4462272"/>
            <a:ext cx="16642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📄 Exec PDF
executive-summary.js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66960" y="4407408"/>
            <a:ext cx="1737360" cy="914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12680" y="4462272"/>
            <a:ext cx="166420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🔬 Rescan
app.js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4681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Segoe UI"/>
              </a:rPr>
              <a:t>Tech Stack: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91640" y="5449824"/>
            <a:ext cx="1627632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691640" y="5468112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Vanilla JS (ES2022)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29000" y="5449824"/>
            <a:ext cx="1627632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429000" y="5468112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Chart.js 4.4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66360" y="5449824"/>
            <a:ext cx="1627632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6360" y="5468112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Cytoscape.js 3.28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03719" y="5449824"/>
            <a:ext cx="1627632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03719" y="5468112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jsPDF 2.5  +  html2canvas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41080" y="5449824"/>
            <a:ext cx="1627632" cy="274320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41080" y="5468112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CORS Proxy (corsproxy.io)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78440" y="5449824"/>
            <a:ext cx="1627632" cy="2743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378440" y="5468112"/>
            <a:ext cx="1627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localStorage persistence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Feature 1 — Business Risk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Moving beyond CVSS: scoring by real-world impact, not just technical severity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234440"/>
            <a:ext cx="10332720" cy="18288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234440"/>
            <a:ext cx="10332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  <a:latin typeface="Segoe UI"/>
              </a:rPr>
              <a:t>The Business Risk Formula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1572768"/>
            <a:ext cx="1554480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62763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Exploitability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391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73736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4748B"/>
                </a:solidFill>
                <a:latin typeface="Segoe UI"/>
              </a:rPr>
              <a:t>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1572768"/>
            <a:ext cx="155448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79" y="162763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Asset Criticality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79" y="20391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/4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73736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4748B"/>
                </a:solidFill>
                <a:latin typeface="Segoe UI"/>
              </a:rPr>
              <a:t>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1572768"/>
            <a:ext cx="1554480" cy="82296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162763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Exposure Level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0391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/3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73736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4748B"/>
                </a:solidFill>
                <a:latin typeface="Segoe UI"/>
              </a:rPr>
              <a:t>=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1572768"/>
            <a:ext cx="155448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20840" y="162763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Business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03911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0–100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Segoe UI"/>
              </a:rPr>
              <a:t>Risk Score Tiers: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3611880"/>
            <a:ext cx="2560320" cy="146304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3611880"/>
            <a:ext cx="2560320" cy="41148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3657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CRITICAL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0416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70–100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40740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Immediate action required — potential full compromise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11880" y="3611880"/>
            <a:ext cx="2560320" cy="146304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11880" y="3611880"/>
            <a:ext cx="2560320" cy="4114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703320" y="3657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40416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45–69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440740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Fix this sprint — exploitable with meaningful impact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611880"/>
            <a:ext cx="2560320" cy="146304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09360" y="3611880"/>
            <a:ext cx="256032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3657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0416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25–44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40740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Schedule within 30 days — moderate risk exposure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6840" y="3611880"/>
            <a:ext cx="2560320" cy="146304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006840" y="3611880"/>
            <a:ext cx="25603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98280" y="3657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40416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0–24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440740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Backlog — low probability or low business impact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5212080"/>
            <a:ext cx="10332720" cy="502920"/>
          </a:xfrm>
          <a:prstGeom prst="rect">
            <a:avLst/>
          </a:prstGeom>
          <a:solidFill>
            <a:srgbClr val="3F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14400" y="5212080"/>
            <a:ext cx="64008" cy="502920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78992" y="525780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4747"/>
                </a:solidFill>
                <a:latin typeface="Segoe UI"/>
              </a:rPr>
              <a:t>🇺🇸  CISA KEV Override: If any CVE matches the live government watchlist, its score is FORCED to 100 — bypassing the formula entirely.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Feature 2 — CISA KEV Live Override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U.S. Government Known Exploited Vulnerabilities — real-time API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577840" cy="539496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5577840" cy="54864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747"/>
                </a:solidFill>
                <a:latin typeface="Segoe UI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7373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Segoe UI"/>
              </a:rPr>
              <a:t>On page load, fetch live from cisa.gov/known_exploited_vulnerabilities.json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747"/>
                </a:solidFill>
                <a:latin typeface="Segoe UI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3317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Segoe UI"/>
              </a:rPr>
              <a:t>If CORS-blocked, automatically fall back to corsproxy.io relay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747"/>
                </a:solidFill>
                <a:latin typeface="Segoe UI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260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Segoe UI"/>
              </a:rPr>
              <a:t>If both fail, seed 10 offline known-KEV CVEs (fully offline-capable)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204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747"/>
                </a:solidFill>
                <a:latin typeface="Segoe UI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5204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Segoe UI"/>
              </a:rPr>
              <a:t>Build a Set of all KEV CVE-IDs (1,100+ entries in live catalog)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747"/>
                </a:solidFill>
                <a:latin typeface="Segoe UI"/>
              </a:rP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114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Segoe UI"/>
              </a:rPr>
              <a:t>During scan: check each finding's CVE against the KEV 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7091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747"/>
                </a:solidFill>
                <a:latin typeface="Segoe UI"/>
              </a:rPr>
              <a:t>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7091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Segoe UI"/>
              </a:rPr>
              <a:t>On match: override businessRisk = 100, severity = 'Critical'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3035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747"/>
                </a:solidFill>
                <a:latin typeface="Segoe UI"/>
              </a:rPr>
              <a:t>7.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303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Segoe UI"/>
              </a:rPr>
              <a:t>KEV findings bubble to the top of ALL views automatically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188720"/>
            <a:ext cx="5577840" cy="246888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7920" y="1188720"/>
            <a:ext cx="5577840" cy="54864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KEV Catalog Impact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737360"/>
            <a:ext cx="1627632" cy="822960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1792224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1,100+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286000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Segoe UI"/>
              </a:rPr>
              <a:t>Known Exploited Vulnerabilities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1737360"/>
            <a:ext cx="1627632" cy="822960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0" y="1792224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286000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Segoe UI"/>
              </a:rPr>
              <a:t>Matched in our lab demo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66960" y="1737360"/>
            <a:ext cx="1627632" cy="822960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12680" y="1792224"/>
            <a:ext cx="15361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2286000"/>
            <a:ext cx="1536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Segoe UI"/>
              </a:rPr>
              <a:t>Override score (max possible)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794760"/>
            <a:ext cx="5577840" cy="278892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17920" y="3794760"/>
            <a:ext cx="5577840" cy="54864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3886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KEV-Matched CVEs in Our Scan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315968"/>
            <a:ext cx="5394960" cy="365760"/>
          </a:xfrm>
          <a:prstGeom prst="rect">
            <a:avLst/>
          </a:prstGeom>
          <a:solidFill>
            <a:srgbClr val="3F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46520" y="4352544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4747"/>
                </a:solidFill>
                <a:latin typeface="Segoe UI"/>
              </a:rPr>
              <a:t>🇺🇸 CVE-2007-2447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35254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Segoe UI"/>
              </a:rPr>
              <a:t>Samba 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4352544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Segoe UI"/>
              </a:rPr>
              <a:t>Score: 10.0 → 100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4745736"/>
            <a:ext cx="5394960" cy="365760"/>
          </a:xfrm>
          <a:prstGeom prst="rect">
            <a:avLst/>
          </a:prstGeom>
          <a:solidFill>
            <a:srgbClr val="3F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46520" y="478231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4747"/>
                </a:solidFill>
                <a:latin typeface="Segoe UI"/>
              </a:rPr>
              <a:t>🇺🇸 CVE-2011-2523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78231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Segoe UI"/>
              </a:rPr>
              <a:t>vsftpd Backdoor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21240" y="478231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Segoe UI"/>
              </a:rPr>
              <a:t>Score: 9.0 → 100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5175504"/>
            <a:ext cx="5394960" cy="365760"/>
          </a:xfrm>
          <a:prstGeom prst="rect">
            <a:avLst/>
          </a:prstGeom>
          <a:solidFill>
            <a:srgbClr val="3F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46520" y="521208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4747"/>
                </a:solidFill>
                <a:latin typeface="Segoe UI"/>
              </a:rPr>
              <a:t>🇺🇸 CVE-2012-1823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52120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Segoe UI"/>
              </a:rPr>
              <a:t>PHP-CGI RCE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1240" y="521208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Segoe UI"/>
              </a:rPr>
              <a:t>Score: 9.2 → 100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5605272"/>
            <a:ext cx="5394960" cy="365760"/>
          </a:xfrm>
          <a:prstGeom prst="rect">
            <a:avLst/>
          </a:prstGeom>
          <a:solidFill>
            <a:srgbClr val="3F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46520" y="564184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4747"/>
                </a:solidFill>
                <a:latin typeface="Segoe UI"/>
              </a:rPr>
              <a:t>🇺🇸 CVE-2014-3704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56418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Segoe UI"/>
              </a:rPr>
              <a:t>Drupal SQLi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21240" y="564184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Segoe UI"/>
              </a:rPr>
              <a:t>Score: 9.8 → 100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6035040"/>
            <a:ext cx="5394960" cy="365760"/>
          </a:xfrm>
          <a:prstGeom prst="rect">
            <a:avLst/>
          </a:prstGeom>
          <a:solidFill>
            <a:srgbClr val="3F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46520" y="6071616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4747"/>
                </a:solidFill>
                <a:latin typeface="Segoe UI"/>
              </a:rPr>
              <a:t>🇺🇸 CVE-2010-2075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607161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Segoe UI"/>
              </a:rPr>
              <a:t>UnrealIRCd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21240" y="6071616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Segoe UI"/>
              </a:rPr>
              <a:t>Score: 10.0 → 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Feature 3 — MITRE ATT&amp;CK®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Every CVE mapped to kill-chain tactics — contextual sorting by attack phase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103120" cy="1371600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2763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Block Initial
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677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TA0001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664208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79" y="1234440"/>
            <a:ext cx="2103120" cy="13716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88920" y="1298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62763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Neutralize
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2677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TA0002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664208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234440"/>
            <a:ext cx="210312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0640" y="1298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62763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Invalidate
Credentials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2677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TA0006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664208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19" y="1234440"/>
            <a:ext cx="210312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52359" y="1298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59" y="162763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Contain Lateral
Movement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59" y="22677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TA0008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1664208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4748B"/>
                </a:solidFill>
                <a:latin typeface="Segoe U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1234440"/>
            <a:ext cx="2103120" cy="1371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84080" y="1298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Phase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162763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Sever C2
Channel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2677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TA0011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7249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Segoe UI"/>
              </a:rPr>
              <a:t>What gets attached to every vulnerability: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154680"/>
            <a:ext cx="201168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31729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mitreTacticId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41071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e.g. TA0001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3154680"/>
            <a:ext cx="201168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31729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mitreTactic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41071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e.g. Initial Access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840480"/>
            <a:ext cx="201168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38587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mitreTechniqueId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09651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e.g. T1190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3840480"/>
            <a:ext cx="201168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46520" y="38587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mitreTechnique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09651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e.g. Exploit Public-Facing App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526280"/>
            <a:ext cx="201168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45445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mitrePhaseNum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78231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1–5 (kill-chain ordering)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4526280"/>
            <a:ext cx="201168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46520" y="45445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mitreThreatUsage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78231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e.g. APT28, Ransomware Affiliates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212080"/>
            <a:ext cx="201168" cy="5029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" y="52303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mitreMitigation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546811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Segoe UI"/>
              </a:rPr>
              <a:t>e.g. M1042 (Disable Services)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532120"/>
            <a:ext cx="11430000" cy="68580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65760" y="5532120"/>
            <a:ext cx="64008" cy="685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8640" y="55778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Segoe UI"/>
              </a:rPr>
              <a:t>Contextual Sorting: Instead of a flat risk list, findings are grouped by attack phase — letting security teams systematically
dismantle the adversary kill-chain from Initial Access → Command &amp; Control in the correct strategic order.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Feature 4 — Interactive ROI Simulator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Drag-and-drop sprint planner with live risk-reduction forecast chart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029200" cy="534924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5029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56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Segoe UI"/>
              </a:rPr>
              <a:t>📋 Backlog Column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574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All vulnerabilities ranked by business risk (KEV first). Searchable.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054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Segoe UI"/>
              </a:rPr>
              <a:t>⚡ Sprint Column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0720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Drag items from backlog. Hard limit enforced (N fixes/week). Shows risk drop.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55263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Segoe UI"/>
              </a:rPr>
              <a:t>📉 Forecast Chart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57015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Chart.js line chart: 'No Action' vs 'With Sprint'. Updates live on every drag.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050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Segoe UI"/>
              </a:rPr>
              <a:t>🤖 Auto-Fill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0682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Auto-selects top N highest-risk items. KEV items always selected first.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7548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Segoe UI"/>
              </a:rPr>
              <a:t>📊 KPI Strip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056631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Total Risk Now | Drop This Sprint | Weeks to Clear | Sprint ROI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046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Segoe UI"/>
              </a:rPr>
              <a:t>🎯 Capacity Stepper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0644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Adjust sprint capacity 1–20. Overflow items automatically return to backlog.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23560" y="1188720"/>
            <a:ext cx="6263640" cy="534924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23560" y="1188720"/>
            <a:ext cx="6263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06440" y="1298448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📉 Risk Reduction Forecast (Simulated View)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1737360"/>
            <a:ext cx="5852160" cy="310896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06440" y="2286000"/>
            <a:ext cx="731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Segoe UI"/>
              </a:rPr>
              <a:t>Risk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754880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Segoe UI"/>
              </a:rPr>
              <a:t>Now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5976" y="4754880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Segoe UI"/>
              </a:rPr>
              <a:t>S1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752" y="4754880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Segoe UI"/>
              </a:rPr>
              <a:t>S2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53528" y="4754880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Segoe UI"/>
              </a:rPr>
              <a:t>S3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47304" y="4754880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Segoe UI"/>
              </a:rPr>
              <a:t>S4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4754880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Segoe UI"/>
              </a:rPr>
              <a:t>S5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4856" y="4754880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Segoe UI"/>
              </a:rPr>
              <a:t>S6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28632" y="4754880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Segoe UI"/>
              </a:rPr>
              <a:t>S7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22408" y="4754880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Segoe UI"/>
              </a:rPr>
              <a:t>S8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16184" y="4754880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Segoe UI"/>
              </a:rPr>
              <a:t>S9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4754880"/>
            <a:ext cx="475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Segoe UI"/>
              </a:rPr>
              <a:t>S10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2377440"/>
            <a:ext cx="5376672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21762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Segoe UI"/>
              </a:rPr>
              <a:t>No Action (Baseline)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994660"/>
            <a:ext cx="50292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94576" y="2514600"/>
            <a:ext cx="50292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388352" y="2125980"/>
            <a:ext cx="50292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882128" y="1874519"/>
            <a:ext cx="50292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375904" y="1769364"/>
            <a:ext cx="50292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869680" y="1755648"/>
            <a:ext cx="50292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363456" y="1755648"/>
            <a:ext cx="50292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57232" y="1755648"/>
            <a:ext cx="50292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351008" y="1755648"/>
            <a:ext cx="50292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844784" y="1755648"/>
            <a:ext cx="50292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32320" y="33101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0B981"/>
                </a:solidFill>
                <a:latin typeface="Segoe UI"/>
              </a:rPr>
              <a:t>✓ With Sprint Selection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06440" y="5074920"/>
            <a:ext cx="1463040" cy="7772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852159" y="513892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  <a:latin typeface="Segoe UI"/>
              </a:rPr>
              <a:t>1,340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52159" y="5577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Segoe UI"/>
              </a:rPr>
              <a:t>Total Risk Now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79208" y="5074920"/>
            <a:ext cx="1463040" cy="7772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424928" y="513892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  <a:latin typeface="Segoe UI"/>
              </a:rPr>
              <a:t>−420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24928" y="5577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Segoe UI"/>
              </a:rPr>
              <a:t>Sprint Drop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951976" y="5074920"/>
            <a:ext cx="1463040" cy="7772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97696" y="513892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  <a:latin typeface="Segoe UI"/>
              </a:rP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97696" y="5577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Segoe UI"/>
              </a:rPr>
              <a:t>Weeks to Clear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524744" y="5074920"/>
            <a:ext cx="1463040" cy="7772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570464" y="513892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0B981"/>
                </a:solidFill>
                <a:latin typeface="Segoe UI"/>
              </a:rPr>
              <a:t>31.3%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70464" y="5577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Segoe UI"/>
              </a:rPr>
              <a:t>Sprint ROI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Feature 5 — Interactive Attack Path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SVG topology map: visualizing Exposure + Criticality + pivot paths in real-time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2491739"/>
            <a:ext cx="1691640" cy="2743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51560" y="3611879"/>
            <a:ext cx="1691640" cy="2743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54680" y="2377439"/>
            <a:ext cx="2788920" cy="2743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54680" y="3726179"/>
            <a:ext cx="2788920" cy="2743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3017520"/>
            <a:ext cx="2971799" cy="27432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51560" y="3017520"/>
            <a:ext cx="1828800" cy="54864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0" y="1755648"/>
            <a:ext cx="54864" cy="1261872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1755648"/>
            <a:ext cx="3310128" cy="54864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0" y="1755648"/>
            <a:ext cx="54864" cy="1325880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0" y="3017520"/>
            <a:ext cx="3474720" cy="54864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9535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3520439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2E8F0"/>
                </a:solidFill>
                <a:latin typeface="Segoe UI"/>
              </a:rPr>
              <a:t>External
Adversary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95927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Segoe UI"/>
              </a:rPr>
              <a:t>Exposure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1691639"/>
            <a:ext cx="5029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0" y="167335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224028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2E8F0"/>
                </a:solidFill>
                <a:latin typeface="Segoe UI"/>
              </a:rPr>
              <a:t>DMZ Web
Gateway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27157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Segoe UI"/>
              </a:rPr>
              <a:t>Exposure 3  Crit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4160520"/>
            <a:ext cx="502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0" y="414223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709159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2E8F0"/>
                </a:solidFill>
                <a:latin typeface="Segoe UI"/>
              </a:rPr>
              <a:t>DMZ Files
&amp; Exchange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518464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Segoe UI"/>
              </a:rPr>
              <a:t>Exposure 2  Crit 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971800"/>
            <a:ext cx="50292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0" y="29535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⚙️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3520439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2E8F0"/>
                </a:solidFill>
                <a:latin typeface="Segoe UI"/>
              </a:rPr>
              <a:t>Internal
App Tier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3995927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Segoe UI"/>
              </a:rPr>
              <a:t>Exposure 1  Crit 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0" y="2971800"/>
            <a:ext cx="640080" cy="640080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26880" y="295351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65760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2E8F0"/>
                </a:solidFill>
                <a:latin typeface="Segoe UI"/>
              </a:rPr>
              <a:t>Crown-Jewel
Core 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413308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4748B"/>
                </a:solidFill>
                <a:latin typeface="Segoe UI"/>
              </a:rPr>
              <a:t>Exposure 1  Crit 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2057400"/>
            <a:ext cx="2286000" cy="274320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331720" y="2084831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Segoe UI"/>
              </a:rPr>
              <a:t>🔴 Primary Pivot Vector — UNMITIGATED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12680" y="1188720"/>
            <a:ext cx="1874519" cy="534924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012680" y="1188720"/>
            <a:ext cx="187451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104120" y="128016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Graph
Features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04120" y="1810512"/>
            <a:ext cx="1600200" cy="59436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149840" y="1847088"/>
            <a:ext cx="1508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2E8F0"/>
                </a:solidFill>
                <a:latin typeface="Segoe UI"/>
              </a:rPr>
              <a:t>📐 Formula
Visualized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04120" y="2542032"/>
            <a:ext cx="1600200" cy="59436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149840" y="2578608"/>
            <a:ext cx="1508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2E8F0"/>
                </a:solidFill>
                <a:latin typeface="Segoe UI"/>
              </a:rPr>
              <a:t>🎯 Click Node
to Inspect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04120" y="3273552"/>
            <a:ext cx="1600200" cy="59436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149840" y="3310128"/>
            <a:ext cx="1508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2E8F0"/>
                </a:solidFill>
                <a:latin typeface="Segoe UI"/>
              </a:rPr>
              <a:t>✂️ Sever
Attack Path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104120" y="4005072"/>
            <a:ext cx="1600200" cy="59436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149840" y="4041648"/>
            <a:ext cx="1508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2E8F0"/>
                </a:solidFill>
                <a:latin typeface="Segoe UI"/>
              </a:rPr>
              <a:t>↺ Reset
All Paths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04120" y="4736592"/>
            <a:ext cx="1600200" cy="59436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149840" y="4773168"/>
            <a:ext cx="1508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2E8F0"/>
                </a:solidFill>
                <a:latin typeface="Segoe UI"/>
              </a:rPr>
              <a:t>🕸️ View Path
from Planner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04120" y="5468112"/>
            <a:ext cx="1600200" cy="59436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149840" y="5504688"/>
            <a:ext cx="1508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2E8F0"/>
                </a:solidFill>
                <a:latin typeface="Segoe UI"/>
              </a:rPr>
              <a:t>📍 Concentric
Zone Layout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6126480"/>
            <a:ext cx="9601200" cy="45720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2920" y="6181344"/>
            <a:ext cx="9326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94A3B8"/>
                </a:solidFill>
                <a:latin typeface="Segoe UI"/>
              </a:rPr>
              <a:t>Business Risk Math Made Visible: Node size = Asset Criticality  •  Ring position = Exposure Level  •  Red beam = Active pivot path to Crown Jewel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Features 6 &amp; 7 — Executive PDF  +  Verification Rescan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From technical findings to board-room brief — and closing the remediation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577840" cy="534924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5577840" cy="54864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5B4FC"/>
                </a:solidFill>
                <a:latin typeface="Segoe UI"/>
              </a:rPr>
              <a:t>📄 One-Click Executive Summary 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5B4FC"/>
                </a:solidFill>
                <a:latin typeface="Segoe UI"/>
              </a:rPr>
              <a:t>🧮 KPI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84831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Baseline risk • Post-sprint projected risk • Total risk reduced • CISA KEV count neutralized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328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5B4FC"/>
                </a:solidFill>
                <a:latin typeface="Segoe UI"/>
              </a:rPr>
              <a:t>📝 Jargon Translation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346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CVE numbers stripped → 'Secured Critical Payment Server'. Zero technical jargon for board audience.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8269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5B4FC"/>
                </a:solidFill>
                <a:latin typeface="Segoe UI"/>
              </a:rPr>
              <a:t>🥧 Pie/Donut Chart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844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Canvas-rendered visual showing % of risk eliminated vs residual — embedded in PDF.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3250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5B4FC"/>
                </a:solidFill>
                <a:latin typeface="Segoe UI"/>
              </a:rPr>
              <a:t>🗒️ Sprint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3425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Capacity-constrained sprint roadmap rewritten in business terms (asset names, business impact, phase blocked).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7823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5B4FC"/>
                </a:solidFill>
                <a:latin typeface="Segoe UI"/>
              </a:rPr>
              <a:t>📋 Governance Footer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08406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CISO &amp; VP Infrastructure signature lines. ISO 27001 / NIST CSF aligned branding.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321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A5B4FC"/>
                </a:solidFill>
                <a:latin typeface="Segoe UI"/>
              </a:rPr>
              <a:t>⬇️ PDF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338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jsPDF 2.5 + html2canvas. Downloads as .pdf instantly. Fallback to window.print().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188720"/>
            <a:ext cx="5577840" cy="534924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1188720"/>
            <a:ext cx="5577840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1280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923C"/>
                </a:solidFill>
                <a:latin typeface="Segoe UI"/>
              </a:rPr>
              <a:t>🔬 One-Click Verification Rescan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783080"/>
            <a:ext cx="685800" cy="4572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36792" y="1837943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Step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1792224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Segoe UI"/>
              </a:rPr>
              <a:t>Mark each sprint task as 'Done' in Week 1 checklist. Or use 'Mark All Done' button.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532888"/>
            <a:ext cx="685800" cy="4572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36792" y="25877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Step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254203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Segoe UI"/>
              </a:rPr>
              <a:t>Verify Fixes button glows green with pulsing animation when 100% sprint is marked done.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282696"/>
            <a:ext cx="685800" cy="4572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36792" y="33375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Step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168" y="3291839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Segoe UI"/>
              </a:rPr>
              <a:t>Click button → micro-scan modal opens with targeted scope pills (IP:port • CVE)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032504"/>
            <a:ext cx="685800" cy="4572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36792" y="40873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Step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40416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Segoe UI"/>
              </a:rPr>
              <a:t>Streaming terminal logs simulate a narrow API probe of only the completed endpoints.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782312"/>
            <a:ext cx="685800" cy="4572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36792" y="4837175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Step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9168" y="4791455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Segoe UI"/>
              </a:rPr>
              <a:t>State Comparison table shows: Baseline vs Rescan. REMEDIATED or STILL VULNERABLE.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5532120"/>
            <a:ext cx="685800" cy="4572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36792" y="5586983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Step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59168" y="5541264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Segoe UI"/>
              </a:rPr>
              <a:t>Verified findings: businessRisk permanently set to 0 in state. Trend history auto-updated.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Live Demo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7 features in action — follow this path for the cleanest demo narrative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669280" cy="160020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457200" cy="1600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5" y="1691640"/>
            <a:ext cx="4023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3258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Open Browser → 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37360"/>
            <a:ext cx="5010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No server needed. SPA loads instantly with dark cyber UI and CISA KEV status pill showing live/offline.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7" y="1234440"/>
            <a:ext cx="5669280" cy="160020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6207" y="1234440"/>
            <a:ext cx="457200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72783" y="1691640"/>
            <a:ext cx="4023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7" y="13258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Configure Scan (Scanner Tab)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7" y="1737360"/>
            <a:ext cx="5010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Set target IP 192.168.56.101 • Choose Metasploitable 2 • Criticality: High • Exposure: DMZ • Capacity: 5.
Tick CISA KEV Override + MITRE ATT&amp;CK modules.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71800"/>
            <a:ext cx="5669280" cy="160020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2971800"/>
            <a:ext cx="457200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6615" y="3429000"/>
            <a:ext cx="4023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0632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Click Start 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474720"/>
            <a:ext cx="5010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Watch 35-step live log stream. KEV cross-reference messages appear in real time. MITRE mapping logged. Risk engine fires.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7" y="2971800"/>
            <a:ext cx="5669280" cy="160020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6207" y="2971800"/>
            <a:ext cx="457200" cy="1600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72783" y="3429000"/>
            <a:ext cx="4023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7" y="30632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Risk Report Tab (auto-opens)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7" y="3474720"/>
            <a:ext cx="5010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Summary strip: 20 findings • 10 Critical • 10 KEV. Switch between MITRE Tactic Grouped view and Flat Table. Show a Details modal.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709160"/>
            <a:ext cx="5669280" cy="160020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4709160"/>
            <a:ext cx="457200" cy="16002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6615" y="5166360"/>
            <a:ext cx="4023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8006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Remediation Tab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212080"/>
            <a:ext cx="5010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Show Week 1 sprint (5 KEV items). Mark all Done → Verify Fixes button glows → Click → micro-scan modal streams → results table shows resolved.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6207" y="4709160"/>
            <a:ext cx="5669280" cy="160020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6207" y="4709160"/>
            <a:ext cx="457200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72783" y="5166360"/>
            <a:ext cx="4023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7" y="48006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ROI Simulator Tab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4847" y="5212080"/>
            <a:ext cx="5010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Load from scan → drag items → watch forecast chart update live → click Auto-Fill → show KPIs.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6400799"/>
            <a:ext cx="11548872" cy="160020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0040" y="6400799"/>
            <a:ext cx="457200" cy="160020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6615" y="6857999"/>
            <a:ext cx="40233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6492239"/>
            <a:ext cx="10908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Attack Path Tab + Export PDF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6903719"/>
            <a:ext cx="108905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Show pivot path graph. Click sever path from roadmap. Then click Executive PDF → download board-ready brief.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4572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Innovation &amp; Real-World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What makes VulnRankPro different from every other vulnerability scanner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3749039" cy="233172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3749039" cy="64008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2E8F0"/>
                </a:solidFill>
                <a:latin typeface="Segoe UI"/>
              </a:rPr>
              <a:t>🇺🇸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371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Live Government
Threat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Most tools use static offline databases.
VulnRankPro pulls the live CISA KEV list on every load — real adversary activity, not yesterday's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234440"/>
            <a:ext cx="3749039" cy="233172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79" y="1234440"/>
            <a:ext cx="3749039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137160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2E8F0"/>
                </a:solidFill>
                <a:latin typeface="Segoe UI"/>
              </a:rPr>
              <a:t>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1" y="1371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Capacity-Aware
Remediation 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92024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Security teams can only fix N things per week.
We are the ONLY tool that enforces this constraint and builds a feasible weekly roadmap around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43315" y="1371600"/>
            <a:ext cx="3749039" cy="233172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43315" y="1309607"/>
            <a:ext cx="3749039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19" y="139903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 dirty="0">
                <a:solidFill>
                  <a:srgbClr val="E2E8F0"/>
                </a:solidFill>
                <a:latin typeface="Segoe UI"/>
              </a:rP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79" y="142267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FFFFFF"/>
                </a:solidFill>
                <a:latin typeface="Segoe UI"/>
              </a:rPr>
              <a:t>MITRE ATT&amp;CK
Contextual Sorting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1998751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94A3B8"/>
                </a:solidFill>
                <a:latin typeface="Segoe UI"/>
              </a:rPr>
              <a:t>Not a flat ranking — a strategic kill-chain.
Teams dismantle Initial Access first, then Execution, then C2 — in the adversary's own attack sequence.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749039"/>
            <a:ext cx="3749039" cy="233172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3749039"/>
            <a:ext cx="3749039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88620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2E8F0"/>
                </a:solidFill>
                <a:latin typeface="Segoe UI"/>
              </a:rP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" y="38862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ROI-Proven
Business Case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43484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Every executive wants to know: 'How much safer are we?'
Our live risk forecast chart answers that instantly — in numbers, not guesses.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90999" y="3873516"/>
            <a:ext cx="3749039" cy="233172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90998" y="3784879"/>
            <a:ext cx="3749039" cy="64008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03193" y="393192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 dirty="0">
                <a:solidFill>
                  <a:srgbClr val="E2E8F0"/>
                </a:solidFill>
                <a:latin typeface="Segoe UI"/>
              </a:rPr>
              <a:t>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7553" y="3975575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FFFFFF"/>
                </a:solidFill>
                <a:latin typeface="Segoe UI"/>
              </a:rPr>
              <a:t>Zero-Jargon
Board Communication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1" y="456669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94A3B8"/>
                </a:solidFill>
                <a:latin typeface="Segoe UI"/>
              </a:rPr>
              <a:t>CVEs translated to business assets.
'Patched CVE-2021-44228' becomes 'Secured Critical Payment Server'. Boards can act on this.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9975" y="3909060"/>
            <a:ext cx="3749039" cy="233172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81124" y="3827698"/>
            <a:ext cx="3749039" cy="6400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37218" y="3975575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 dirty="0">
                <a:solidFill>
                  <a:srgbClr val="E2E8F0"/>
                </a:solidFill>
                <a:latin typeface="Segoe UI"/>
              </a:rPr>
              <a:t>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78821" y="3996419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FFFFFF"/>
                </a:solidFill>
                <a:latin typeface="Segoe UI"/>
              </a:rPr>
              <a:t>Closed-Loop
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2" y="456669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94A3B8"/>
                </a:solidFill>
                <a:latin typeface="Segoe UI"/>
              </a:rPr>
              <a:t>Most tools just report. We verify.
Targeted micro-scan confirms the fix actually worked — and permanently updates the risk database.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By The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Quantified security impact from a single scan of our Metasploitable 2 lab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1828800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59" y="13258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59" y="2148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Vulnerabilities
Detected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95144" y="1234440"/>
            <a:ext cx="1828800" cy="1645920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40864" y="13258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0864" y="2148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CISA KEV
Active Exploits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234440"/>
            <a:ext cx="1828800" cy="1645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15968" y="13258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148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Attack Kill-Chain
Phases Covered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1234440"/>
            <a:ext cx="1828800" cy="1645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91072" y="13258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Segoe UI"/>
              </a:rP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148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Max Override
Score (KEV)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0456" y="1234440"/>
            <a:ext cx="1828800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66176" y="13258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Segoe UI"/>
              </a:rPr>
              <a:t>31%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148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Risk Reduced
In Sprint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95560" y="1234440"/>
            <a:ext cx="1828800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0" y="13258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Segoe UI"/>
              </a:rPr>
              <a:t>1,100+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21488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Segoe UI"/>
              </a:rPr>
              <a:t>Live KEV
Entries Checked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063240"/>
            <a:ext cx="64008" cy="5943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4632" y="309067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Segoe UI"/>
              </a:rPr>
              <a:t>Files in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33649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6 JS/CSS/HTML files, ~4,800 lines of code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063240"/>
            <a:ext cx="64008" cy="5943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28231" y="309067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Segoe UI"/>
              </a:rPr>
              <a:t>Zero Dependencies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1" y="33649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No Node.js, no backend server, no npm — pure browser SPA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867912"/>
            <a:ext cx="64008" cy="5943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" y="389534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Segoe UI"/>
              </a:rPr>
              <a:t>CDN Libraries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416966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Chart.js 4.4  •  Cytoscape.js 3.28  •  jsPDF 2.5  •  html2canvas 1.4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867912"/>
            <a:ext cx="64008" cy="5943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28231" y="389534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Segoe UI"/>
              </a:rPr>
              <a:t>API Integrations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8231" y="416966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CISA KEV (live REST)  •  CORS proxy fallback  •  Offline seed mode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672584"/>
            <a:ext cx="64008" cy="5943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4632" y="470001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Segoe UI"/>
              </a:rPr>
              <a:t>MITRE Coverage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" y="497433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5 Tactics  •  T1059, T1190, T1210, T1203, T1021, T1071, T1090…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4672584"/>
            <a:ext cx="64008" cy="5943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28231" y="470001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Segoe UI"/>
              </a:rPr>
              <a:t>localStorage Persistence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8231" y="497433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Trend history survives page reload — multi-session posture tracking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5477256"/>
            <a:ext cx="64008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4632" y="55046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Segoe UI"/>
              </a:rPr>
              <a:t>Bug-Free Codebase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" y="577900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Full audit completed: 3 bugs found and fixed (CSS margins, color conv., NaN guard)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5477256"/>
            <a:ext cx="64008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28231" y="55046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8F0"/>
                </a:solidFill>
                <a:latin typeface="Segoe UI"/>
              </a:rPr>
              <a:t>Verification Pipeline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28231" y="577900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Segoe UI"/>
              </a:rPr>
              <a:t>Simulated POST /api/v1/scan/micro-verify — ready for real nmap backend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What's Next — Future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6692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Expanding from demo lab to production enterprise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669280" cy="164592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669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Segoe UI"/>
              </a:rPr>
              <a:t>🔧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3271" y="1399032"/>
            <a:ext cx="868680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1" y="141732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Q4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4248" y="136245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Real Nmap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783080"/>
            <a:ext cx="5349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Replace simulated scanner with live Nmap subprocess.
Actual TCP SYN scans, service fingerprinting, and NSE script output piped into the risk engine.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7" y="1234440"/>
            <a:ext cx="5669280" cy="164592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36207" y="1234440"/>
            <a:ext cx="5669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45936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Segoe UI"/>
              </a:rPr>
              <a:t>🗃️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1399032"/>
            <a:ext cx="86868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0" y="141732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Q4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0415" y="136245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NVD &amp; Exploit-DB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799" y="1783080"/>
            <a:ext cx="5349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Real-time CVE enrichment from National Vulnerability Database API.
Exploit-DB proof-of-concept check to validate exploitability score.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017520"/>
            <a:ext cx="5669280" cy="164592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3017520"/>
            <a:ext cx="56692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9768" y="31546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Segoe UI"/>
              </a:rPr>
              <a:t>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1" y="3182112"/>
            <a:ext cx="86868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33271" y="32004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Q1 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84248" y="314553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Multi-Target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3566160"/>
            <a:ext cx="5349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Scan and track entire subnets simultaneously.
Dashboard aggregates risk across multiple hosts with per-asset drill-down.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7" y="3017520"/>
            <a:ext cx="5669280" cy="164592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36207" y="3017520"/>
            <a:ext cx="566928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45936" y="31546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Segoe UI"/>
              </a:rPr>
              <a:t>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3182112"/>
            <a:ext cx="86868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49440" y="320040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Q1 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0415" y="314553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JIRA / ServiceNow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799" y="3566160"/>
            <a:ext cx="5349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Export weekly sprint as tickets directly into JIRA or ServiceNow.
Sprint capacity maps to sprint velocity. Fully automated ticketing.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800600"/>
            <a:ext cx="5669280" cy="164592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0040" y="4800600"/>
            <a:ext cx="5669280" cy="5486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9768" y="4937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Segoe UI"/>
              </a:rPr>
              <a:t>⚙️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33271" y="4965192"/>
            <a:ext cx="868680" cy="25603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33271" y="4983479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Q2 2027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84248" y="492861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CI/CD Pipeline Hook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" y="5349240"/>
            <a:ext cx="5349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GitHub Actions / GitLab CI integration.
Block deployments automatically if new critical CVEs are introduced in a release.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7" y="4800600"/>
            <a:ext cx="5669280" cy="164592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36207" y="4800600"/>
            <a:ext cx="5669280" cy="54864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45936" y="4937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0"/>
                </a:solidFill>
                <a:latin typeface="Segoe UI"/>
              </a:rPr>
              <a:t>🤖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49440" y="4965192"/>
            <a:ext cx="868680" cy="256032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49440" y="4983479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Q2 2027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0415" y="492861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AI Remediation Assistant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799" y="5349240"/>
            <a:ext cx="5349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GPT-4 powered fix suggestions: given a CVE + service banner, generate the exact remediation command.
Integrated in the Details modal.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E2E8F0"/>
                </a:solidFill>
                <a:latin typeface="Segoe UI"/>
              </a:rPr>
              <a:t>🛡️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Segoe UI"/>
              </a:rPr>
              <a:t>VulnRankPro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200400"/>
            <a:ext cx="320040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Segoe UI"/>
              </a:rPr>
              <a:t>Business-Risk Vulnerability Scanner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77639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Segoe UI"/>
              </a:rPr>
              <a:t>HTH-CS-03  |  Cybersecurity Track
Hackathon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846320"/>
            <a:ext cx="2468880" cy="347472"/>
          </a:xfrm>
          <a:prstGeom prst="rect">
            <a:avLst/>
          </a:prstGeom>
          <a:solidFill>
            <a:srgbClr val="FF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4864607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🇺🇸 CISA KEV Live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4846320"/>
            <a:ext cx="2468880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80" y="4864607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🎯 MITRE ATT&amp;CK v15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321808"/>
            <a:ext cx="246888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534009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📊 ROI Simulator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5321808"/>
            <a:ext cx="246888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54680" y="534009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🕸️ Attack Path Graph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797296"/>
            <a:ext cx="2468880" cy="347472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5815583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📄 Executive PDF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5797296"/>
            <a:ext cx="2468880" cy="34747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54680" y="5815583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🔬 Verification Rescan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272783"/>
            <a:ext cx="2468880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291071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📈 Risk Trend Tracker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164592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Questions?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487168"/>
            <a:ext cx="320040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2633472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Segoe UI"/>
              </a:rPr>
              <a:t>We built a complete, production-grade
cybersecurity intelligence platform
in a single-file SPA.
No server. No setup.
Just open index.html.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480560"/>
            <a:ext cx="1371600" cy="82296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453542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B82F6"/>
                </a:solidFill>
                <a:latin typeface="Segoe U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9926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Segoe UI"/>
              </a:rPr>
              <a:t>Core Features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99248" y="4480560"/>
            <a:ext cx="1371600" cy="82296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44968" y="453542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B82F6"/>
                </a:solidFill>
                <a:latin typeface="Segoe UI"/>
              </a:rP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4968" y="49926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Segoe UI"/>
              </a:rPr>
              <a:t>Vulnerabilities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0576" y="4480560"/>
            <a:ext cx="1371600" cy="82296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26296" y="453542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B82F6"/>
                </a:solidFill>
                <a:latin typeface="Segoe U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6296" y="49926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Segoe UI"/>
              </a:rPr>
              <a:t>Attack Phases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1904" y="4480560"/>
            <a:ext cx="1371600" cy="822960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707624" y="453542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B82F6"/>
                </a:solidFill>
                <a:latin typeface="Segoe UI"/>
              </a:rPr>
              <a:t>1,100+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07624" y="499262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Segoe UI"/>
              </a:rPr>
              <a:t>KEV Entries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5486400"/>
            <a:ext cx="557784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17920" y="56235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Segoe UI"/>
              </a:rPr>
              <a:t>Built with: Vanilla JS  •  Chart.js  •  Cytoscape.js  •  jsPDF  •  CISA KEV API  •  MITRE ATT&amp;CK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6144768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2451</Words>
  <Application>Microsoft Office PowerPoint</Application>
  <PresentationFormat>Custom</PresentationFormat>
  <Paragraphs>389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Itz me Lucifer</cp:lastModifiedBy>
  <cp:revision>2</cp:revision>
  <dcterms:created xsi:type="dcterms:W3CDTF">2013-01-27T09:14:16Z</dcterms:created>
  <dcterms:modified xsi:type="dcterms:W3CDTF">2026-09-24T17:02:01Z</dcterms:modified>
  <cp:category/>
</cp:coreProperties>
</file>